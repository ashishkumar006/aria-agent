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c129d35584648" /><Relationship Type="http://schemas.openxmlformats.org/officeDocument/2006/relationships/extended-properties" Target="/docProps/app.xml" Id="Rfd703cc9e26b475a" /><Relationship Type="http://schemas.openxmlformats.org/officeDocument/2006/relationships/officeDocument" Target="/ppt/presentation.xml" Id="R0fa0fc05a7e24a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5f683f83341e5"/>
  </p:sldMasterIdLst>
  <p:notesMasterIdLst>
    <p:notesMasterId xmlns:r="http://schemas.openxmlformats.org/officeDocument/2006/relationships" r:id="Rfe057b7e58d54bb1"/>
  </p:notesMasterIdLst>
  <p:sldIdLst>
    <p:sldId xmlns:r="http://schemas.openxmlformats.org/officeDocument/2006/relationships" id="256" r:id="Red1d49dd406f428b"/>
    <p:sldId xmlns:r="http://schemas.openxmlformats.org/officeDocument/2006/relationships" id="257" r:id="R30ce21a423044bc1"/>
    <p:sldId xmlns:r="http://schemas.openxmlformats.org/officeDocument/2006/relationships" id="258" r:id="R323f8d86ba6e42fb"/>
    <p:sldId xmlns:r="http://schemas.openxmlformats.org/officeDocument/2006/relationships" id="259" r:id="R73ee1256434047e9"/>
    <p:sldId xmlns:r="http://schemas.openxmlformats.org/officeDocument/2006/relationships" id="260" r:id="R88f5c28be09543d0"/>
    <p:sldId xmlns:r="http://schemas.openxmlformats.org/officeDocument/2006/relationships" id="261" r:id="R2ec152353f5a4b66"/>
    <p:sldId xmlns:r="http://schemas.openxmlformats.org/officeDocument/2006/relationships" id="262" r:id="R71963267c51d47af"/>
    <p:sldId xmlns:r="http://schemas.openxmlformats.org/officeDocument/2006/relationships" id="263" r:id="R3255b87c6e724709"/>
    <p:sldId xmlns:r="http://schemas.openxmlformats.org/officeDocument/2006/relationships" id="264" r:id="R93bf7a2b96754e66"/>
    <p:sldId xmlns:r="http://schemas.openxmlformats.org/officeDocument/2006/relationships" id="265" r:id="R5551f359814f4e37"/>
    <p:sldId xmlns:r="http://schemas.openxmlformats.org/officeDocument/2006/relationships" id="266" r:id="Rabbe97148a774c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341de75fe48ce" /><Relationship Type="http://schemas.openxmlformats.org/officeDocument/2006/relationships/slideMaster" Target="/ppt/slideMasters/slideMaster1.xml" Id="Rf945f683f83341e5" /><Relationship Type="http://schemas.openxmlformats.org/officeDocument/2006/relationships/notesMaster" Target="/ppt/notesMasters/notesMaster1.xml" Id="Rfe057b7e58d54bb1" /><Relationship Type="http://schemas.openxmlformats.org/officeDocument/2006/relationships/presProps" Target="/ppt/presProps.xml" Id="Rdb3c52d19d46411b" /><Relationship Type="http://schemas.openxmlformats.org/officeDocument/2006/relationships/tableStyles" Target="/ppt/tableStyles.xml" Id="R521b9a8e74f04075" /><Relationship Type="http://schemas.openxmlformats.org/officeDocument/2006/relationships/slide" Target="/ppt/slides/slide1.xml" Id="Red1d49dd406f428b" /><Relationship Type="http://schemas.openxmlformats.org/officeDocument/2006/relationships/slide" Target="/ppt/slides/slide2.xml" Id="R30ce21a423044bc1" /><Relationship Type="http://schemas.openxmlformats.org/officeDocument/2006/relationships/slide" Target="/ppt/slides/slide3.xml" Id="R323f8d86ba6e42fb" /><Relationship Type="http://schemas.openxmlformats.org/officeDocument/2006/relationships/slide" Target="/ppt/slides/slide4.xml" Id="R73ee1256434047e9" /><Relationship Type="http://schemas.openxmlformats.org/officeDocument/2006/relationships/slide" Target="/ppt/slides/slide5.xml" Id="R88f5c28be09543d0" /><Relationship Type="http://schemas.openxmlformats.org/officeDocument/2006/relationships/slide" Target="/ppt/slides/slide6.xml" Id="R2ec152353f5a4b66" /><Relationship Type="http://schemas.openxmlformats.org/officeDocument/2006/relationships/slide" Target="/ppt/slides/slide7.xml" Id="R71963267c51d47af" /><Relationship Type="http://schemas.openxmlformats.org/officeDocument/2006/relationships/slide" Target="/ppt/slides/slide8.xml" Id="R3255b87c6e724709" /><Relationship Type="http://schemas.openxmlformats.org/officeDocument/2006/relationships/slide" Target="/ppt/slides/slide9.xml" Id="R93bf7a2b96754e66" /><Relationship Type="http://schemas.openxmlformats.org/officeDocument/2006/relationships/slide" Target="/ppt/slides/slide10.xml" Id="R5551f359814f4e37" /><Relationship Type="http://schemas.openxmlformats.org/officeDocument/2006/relationships/slide" Target="/ppt/slides/slide11.xml" Id="Rabbe97148a77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074ffed7d5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6b5492b60643eb" /><Relationship Type="http://schemas.openxmlformats.org/officeDocument/2006/relationships/notesMaster" Target="/ppt/notesMasters/notesMaster1.xml" Id="R59ac3415fcbd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b28c1582c24eb3" /><Relationship Type="http://schemas.openxmlformats.org/officeDocument/2006/relationships/notesMaster" Target="/ppt/notesMasters/notesMaster1.xml" Id="R4fdafe8b1296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d072c42bc448d" /><Relationship Type="http://schemas.openxmlformats.org/officeDocument/2006/relationships/notesMaster" Target="/ppt/notesMasters/notesMaster1.xml" Id="R980a978ced3946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9ab10c1cb74db0" /><Relationship Type="http://schemas.openxmlformats.org/officeDocument/2006/relationships/notesMaster" Target="/ppt/notesMasters/notesMaster1.xml" Id="R1d3334525050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7a09241f344a00" /><Relationship Type="http://schemas.openxmlformats.org/officeDocument/2006/relationships/notesMaster" Target="/ppt/notesMasters/notesMaster1.xml" Id="R128b8cb338a5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c70bea00c54265" /><Relationship Type="http://schemas.openxmlformats.org/officeDocument/2006/relationships/notesMaster" Target="/ppt/notesMasters/notesMaster1.xml" Id="R74907742cd3040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c59d8c50940b8" /><Relationship Type="http://schemas.openxmlformats.org/officeDocument/2006/relationships/notesMaster" Target="/ppt/notesMasters/notesMaster1.xml" Id="R567f1b63839c48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c6ecdeef774dac" /><Relationship Type="http://schemas.openxmlformats.org/officeDocument/2006/relationships/notesMaster" Target="/ppt/notesMasters/notesMaster1.xml" Id="R56c3032a939940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248607e9bd47da" /><Relationship Type="http://schemas.openxmlformats.org/officeDocument/2006/relationships/notesMaster" Target="/ppt/notesMasters/notesMaster1.xml" Id="R3140f118975342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4b3cbb58e5463c" /><Relationship Type="http://schemas.openxmlformats.org/officeDocument/2006/relationships/notesMaster" Target="/ppt/notesMasters/notesMaster1.xml" Id="R918f2262012e41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5bf8722b8843b7" /><Relationship Type="http://schemas.openxmlformats.org/officeDocument/2006/relationships/notesMaster" Target="/ppt/notesMasters/notesMaster1.xml" Id="Ref06007f80a9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71a8d3f1749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62ae5f2a24425" /><Relationship Type="http://schemas.openxmlformats.org/officeDocument/2006/relationships/slideLayout" Target="/ppt/slideLayouts/slideLayout1.xml" Id="R13d62412d088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62412d088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c85420bcc4e25" /><Relationship Type="http://schemas.openxmlformats.org/officeDocument/2006/relationships/notesSlide" Target="/ppt/notesSlides/notesSlide1.xml" Id="R250e24e554d14b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d4e149b454607" /><Relationship Type="http://schemas.openxmlformats.org/officeDocument/2006/relationships/notesSlide" Target="/ppt/notesSlides/notesSlide2.xml" Id="R1b81b7b89ade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13f5875ba4e28" /><Relationship Type="http://schemas.openxmlformats.org/officeDocument/2006/relationships/notesSlide" Target="/ppt/notesSlides/notesSlide3.xml" Id="R68dc5b836e5b44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dd2e256f64974" /><Relationship Type="http://schemas.openxmlformats.org/officeDocument/2006/relationships/notesSlide" Target="/ppt/notesSlides/notesSlide4.xml" Id="R733c0eff5227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1707200a24c61" /><Relationship Type="http://schemas.openxmlformats.org/officeDocument/2006/relationships/notesSlide" Target="/ppt/notesSlides/notesSlide5.xml" Id="R6136cb9bb719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975e16e6948fb" /><Relationship Type="http://schemas.openxmlformats.org/officeDocument/2006/relationships/notesSlide" Target="/ppt/notesSlides/notesSlide6.xml" Id="R6be6dcaab49b42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75ff358dc4ae8" /><Relationship Type="http://schemas.openxmlformats.org/officeDocument/2006/relationships/notesSlide" Target="/ppt/notesSlides/notesSlide7.xml" Id="R909c7ce6115046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68472734f4c77" /><Relationship Type="http://schemas.openxmlformats.org/officeDocument/2006/relationships/notesSlide" Target="/ppt/notesSlides/notesSlide8.xml" Id="R82ffcc2b416643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26ca767424e9f" /><Relationship Type="http://schemas.openxmlformats.org/officeDocument/2006/relationships/notesSlide" Target="/ppt/notesSlides/notesSlide9.xml" Id="R94e5ffb4ef87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95fb384cd4b98" /><Relationship Type="http://schemas.openxmlformats.org/officeDocument/2006/relationships/notesSlide" Target="/ppt/notesSlides/notesSlide10.xml" Id="R4983151f3ebe4a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60705c2ad4283" /><Relationship Type="http://schemas.openxmlformats.org/officeDocument/2006/relationships/notesSlide" Target="/ppt/notesSlides/notesSlide11.xml" Id="R7351086675c649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F3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14A3C305-AEA8-4820-9157-66850936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E7FF"/>
                </a:solidFill>
              </a:defRPr>
            </a:pPr>
            <a:r>
              <a:rPr sz="1350" b="1">
                <a:solidFill>
                  <a:srgbClr val="E0E7FF"/>
                </a:solidFill>
              </a:rPr>
              <a:t>A FRIENDLY GUIDE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2D6000-0BF9-4F0B-9A02-D416BD3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36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How Large Language Models Work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77A4CA8E-2048-4A94-B58F-FED34B8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0E7FF"/>
                </a:solidFill>
              </a:defRPr>
            </a:pPr>
            <a:r>
              <a:rPr sz="1650" b="0">
                <a:solidFill>
                  <a:srgbClr val="E0E7FF"/>
                </a:solidFill>
              </a:rPr>
              <a:t>From raw text to fluent language — the ideas behind the models powering today's AI.</a:t>
            </a:r>
          </a:p>
        </p:txBody>
      </p:sp>
    </p:spTree>
    <p:extLst>
      <p:ext uri="{BB962C8B-B14F-4D97-AF65-F5344CB8AC3E}">
        <p14:creationId xmlns:p14="http://schemas.microsoft.com/office/powerpoint/2010/main" val="4011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r">
            <a:extLst xmlns:a="http://schemas.openxmlformats.org/drawingml/2006/main">
              <a:ext uri="{FF2B5EF4-FFF2-40B4-BE49-F238E27FC236}">
                <a16:creationId xmlns:a16="http://schemas.microsoft.com/office/drawing/2014/main" id="{2F3DF47B-D8C5-4785-B9FD-4361C6F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3736898C-A900-4682-94C8-4631F8D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743AA7B-D3D7-4C6A-972F-D2A6ECC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THE BIG PICTURE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15C596-B75A-4573-A5EA-C16BC9D0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An LLM is a next-word prediction machine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4977B0E-D4BD-4909-99D7-943EF1AD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Trained on vast text, it learns patterns of language so well that it can continue any prompt with plausible, useful text.</a:t>
            </a:r>
          </a:p>
        </p:txBody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433598F-5EC6-4039-BCF8-284A8D4F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304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1-t">
            <a:extLst xmlns:a="http://schemas.openxmlformats.org/drawingml/2006/main">
              <a:ext uri="{FF2B5EF4-FFF2-40B4-BE49-F238E27FC236}">
                <a16:creationId xmlns:a16="http://schemas.microsoft.com/office/drawing/2014/main" id="{49BF2B6C-592F-48D1-8E9A-3D5EF41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Reads a prompt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("The capital of France is")</a:t>
            </a:r>
          </a:p>
        </p:txBody>
      </p:sp>
      <p:sp>
        <p:nvSpPr>
          <p:cNvPr id="8" name="a1">
            <a:extLst xmlns:a="http://schemas.openxmlformats.org/drawingml/2006/main">
              <a:ext uri="{FF2B5EF4-FFF2-40B4-BE49-F238E27FC236}">
                <a16:creationId xmlns:a16="http://schemas.microsoft.com/office/drawing/2014/main" id="{95EE6503-72A4-4AC4-9AF4-55CE121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95800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07DCF3A-C708-4498-B38A-D356AC3B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304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2-t">
            <a:extLst xmlns:a="http://schemas.openxmlformats.org/drawingml/2006/main">
              <a:ext uri="{FF2B5EF4-FFF2-40B4-BE49-F238E27FC236}">
                <a16:creationId xmlns:a16="http://schemas.microsoft.com/office/drawing/2014/main" id="{5C5AAF2E-3542-4D36-8412-17B4E1DE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Predicts the most likely next token</a:t>
            </a:r>
          </a:p>
        </p:txBody>
      </p:sp>
      <p:sp>
        <p:nvSpPr>
          <p:cNvPr id="11" name="a2">
            <a:extLst xmlns:a="http://schemas.openxmlformats.org/drawingml/2006/main">
              <a:ext uri="{FF2B5EF4-FFF2-40B4-BE49-F238E27FC236}">
                <a16:creationId xmlns:a16="http://schemas.microsoft.com/office/drawing/2014/main" id="{1BE1FC80-C97B-4CDF-9724-83CBE747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95800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880EB043-4D5F-42A7-81B4-7C5FC12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752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3-t">
            <a:extLst xmlns:a="http://schemas.openxmlformats.org/drawingml/2006/main">
              <a:ext uri="{FF2B5EF4-FFF2-40B4-BE49-F238E27FC236}">
                <a16:creationId xmlns:a16="http://schemas.microsoft.com/office/drawing/2014/main" id="{9FD524FB-A66E-4059-8821-679FDC7D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752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Repeats,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building a reply</a:t>
            </a:r>
          </a:p>
        </p:txBody>
      </p:sp>
      <p:sp>
        <p:nvSpPr>
          <p:cNvPr id="14" name="foot">
            <a:extLst xmlns:a="http://schemas.openxmlformats.org/drawingml/2006/main">
              <a:ext uri="{FF2B5EF4-FFF2-40B4-BE49-F238E27FC236}">
                <a16:creationId xmlns:a16="http://schemas.microsoft.com/office/drawing/2014/main" id="{06BE79FB-00F6-48C6-849B-609FE8E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5" name="pagenum">
            <a:extLst xmlns:a="http://schemas.openxmlformats.org/drawingml/2006/main">
              <a:ext uri="{FF2B5EF4-FFF2-40B4-BE49-F238E27FC236}">
                <a16:creationId xmlns:a16="http://schemas.microsoft.com/office/drawing/2014/main" id="{E8F5EC20-B493-4165-90B6-DA0E922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9496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ar">
            <a:extLst xmlns:a="http://schemas.openxmlformats.org/drawingml/2006/main">
              <a:ext uri="{FF2B5EF4-FFF2-40B4-BE49-F238E27FC236}">
                <a16:creationId xmlns:a16="http://schemas.microsoft.com/office/drawing/2014/main" id="{2B7F8B14-0CDE-4522-B151-09615D46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99160EFC-B3B3-47C9-8126-EBF5306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342595C-04C3-4A6C-AC33-9D70F3E2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UNIT OF LANGUAGE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94FCFD-FAD3-4442-95EA-B1BA003B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Models think in tokens, not letters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71CB5A7-0BC6-4059-A0EB-8A9ADEB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Text is split into tokens — word pieces, characters, or syllables. The model processes and predicts tokens, not raw characters.</a:t>
            </a:r>
          </a:p>
        </p:txBody>
      </p:sp>
      <p:sp>
        <p:nvSpPr>
          <p:cNvPr id="6" name="src">
            <a:extLst xmlns:a="http://schemas.openxmlformats.org/drawingml/2006/main">
              <a:ext uri="{FF2B5EF4-FFF2-40B4-BE49-F238E27FC236}">
                <a16:creationId xmlns:a16="http://schemas.microsoft.com/office/drawing/2014/main" id="{D32CF7C7-39DA-4B12-9212-CCF93CC4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Input:  "Hello, world!"</a:t>
            </a:r>
          </a:p>
        </p:txBody>
      </p:sp>
      <p:sp>
        <p:nvSpPr>
          <p:cNvPr id="7" name="tk0">
            <a:extLst xmlns:a="http://schemas.openxmlformats.org/drawingml/2006/main">
              <a:ext uri="{FF2B5EF4-FFF2-40B4-BE49-F238E27FC236}">
                <a16:creationId xmlns:a16="http://schemas.microsoft.com/office/drawing/2014/main" id="{AA6DEA58-CE69-4A3F-B5AF-1A54C9A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k0-t">
            <a:extLst xmlns:a="http://schemas.openxmlformats.org/drawingml/2006/main">
              <a:ext uri="{FF2B5EF4-FFF2-40B4-BE49-F238E27FC236}">
                <a16:creationId xmlns:a16="http://schemas.microsoft.com/office/drawing/2014/main" id="{8728DB77-0EC4-48F1-9DD1-7922A35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Hello</a:t>
            </a:r>
          </a:p>
        </p:txBody>
      </p:sp>
      <p:sp>
        <p:nvSpPr>
          <p:cNvPr id="9" name="tk1">
            <a:extLst xmlns:a="http://schemas.openxmlformats.org/drawingml/2006/main">
              <a:ext uri="{FF2B5EF4-FFF2-40B4-BE49-F238E27FC236}">
                <a16:creationId xmlns:a16="http://schemas.microsoft.com/office/drawing/2014/main" id="{0229F95D-D948-4D8B-B2EA-A6E71CA6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k1-t">
            <a:extLst xmlns:a="http://schemas.openxmlformats.org/drawingml/2006/main">
              <a:ext uri="{FF2B5EF4-FFF2-40B4-BE49-F238E27FC236}">
                <a16:creationId xmlns:a16="http://schemas.microsoft.com/office/drawing/2014/main" id="{DDEA4F4A-45D2-4C90-96BE-02565AC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,</a:t>
            </a:r>
          </a:p>
        </p:txBody>
      </p:sp>
      <p:sp>
        <p:nvSpPr>
          <p:cNvPr id="11" name="tk2">
            <a:extLst xmlns:a="http://schemas.openxmlformats.org/drawingml/2006/main">
              <a:ext uri="{FF2B5EF4-FFF2-40B4-BE49-F238E27FC236}">
                <a16:creationId xmlns:a16="http://schemas.microsoft.com/office/drawing/2014/main" id="{6B9987F4-AC92-4BD4-A325-F78E5FE5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k2-t">
            <a:extLst xmlns:a="http://schemas.openxmlformats.org/drawingml/2006/main">
              <a:ext uri="{FF2B5EF4-FFF2-40B4-BE49-F238E27FC236}">
                <a16:creationId xmlns:a16="http://schemas.microsoft.com/office/drawing/2014/main" id="{8ABB153F-E165-4441-88B1-6F660AA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 world</a:t>
            </a:r>
          </a:p>
        </p:txBody>
      </p:sp>
      <p:sp>
        <p:nvSpPr>
          <p:cNvPr id="13" name="tk3">
            <a:extLst xmlns:a="http://schemas.openxmlformats.org/drawingml/2006/main">
              <a:ext uri="{FF2B5EF4-FFF2-40B4-BE49-F238E27FC236}">
                <a16:creationId xmlns:a16="http://schemas.microsoft.com/office/drawing/2014/main" id="{0F57E1A7-8A0F-42A9-9760-EE761A76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k3-t">
            <a:extLst xmlns:a="http://schemas.openxmlformats.org/drawingml/2006/main">
              <a:ext uri="{FF2B5EF4-FFF2-40B4-BE49-F238E27FC236}">
                <a16:creationId xmlns:a16="http://schemas.microsoft.com/office/drawing/2014/main" id="{5A8F5249-66A9-41C3-882B-795DB27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!</a:t>
            </a:r>
          </a:p>
        </p:txBody>
      </p:sp>
      <p:sp>
        <p:nvSpPr>
          <p:cNvPr id="15" name="tk4">
            <a:extLst xmlns:a="http://schemas.openxmlformats.org/drawingml/2006/main">
              <a:ext uri="{FF2B5EF4-FFF2-40B4-BE49-F238E27FC236}">
                <a16:creationId xmlns:a16="http://schemas.microsoft.com/office/drawing/2014/main" id="{E3425C04-5737-449B-9260-BAFD771F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k4-t">
            <a:extLst xmlns:a="http://schemas.openxmlformats.org/drawingml/2006/main">
              <a:ext uri="{FF2B5EF4-FFF2-40B4-BE49-F238E27FC236}">
                <a16:creationId xmlns:a16="http://schemas.microsoft.com/office/drawing/2014/main" id="{D69B9772-7D84-44C5-AEBA-E359DAD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 (3 tokens in GPT-4)</a:t>
            </a:r>
          </a:p>
        </p:txBody>
      </p:sp>
      <p:sp>
        <p:nvSpPr>
          <p:cNvPr id="17" name="note">
            <a:extLst xmlns:a="http://schemas.openxmlformats.org/drawingml/2006/main">
              <a:ext uri="{FF2B5EF4-FFF2-40B4-BE49-F238E27FC236}">
                <a16:creationId xmlns:a16="http://schemas.microsoft.com/office/drawing/2014/main" id="{CD07C41C-6CB3-4099-B0FD-08A6381A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One token ≈ 4 characters of English on average. Longer prompts and answers simply mean more tokens to process.</a:t>
            </a:r>
          </a:p>
        </p:txBody>
      </p:sp>
      <p:sp>
        <p:nvSpPr>
          <p:cNvPr id="18" name="foot">
            <a:extLst xmlns:a="http://schemas.openxmlformats.org/drawingml/2006/main">
              <a:ext uri="{FF2B5EF4-FFF2-40B4-BE49-F238E27FC236}">
                <a16:creationId xmlns:a16="http://schemas.microsoft.com/office/drawing/2014/main" id="{D311F764-C646-4939-A422-F6DCF7A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9" name="pagenum">
            <a:extLst xmlns:a="http://schemas.openxmlformats.org/drawingml/2006/main">
              <a:ext uri="{FF2B5EF4-FFF2-40B4-BE49-F238E27FC236}">
                <a16:creationId xmlns:a16="http://schemas.microsoft.com/office/drawing/2014/main" id="{F1D43BC6-356E-450C-8FD3-EB0D694B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8755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ar">
            <a:extLst xmlns:a="http://schemas.openxmlformats.org/drawingml/2006/main">
              <a:ext uri="{FF2B5EF4-FFF2-40B4-BE49-F238E27FC236}">
                <a16:creationId xmlns:a16="http://schemas.microsoft.com/office/drawing/2014/main" id="{0361B7A5-02B7-49AE-9967-E42E082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03282A58-BD7E-4E3E-851E-98E00B6A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4C049BA-DB58-4782-8DCE-FFC8A0A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LEARNING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9A417F-583A-43FC-84FC-425C262C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Pre-training learns by filling in the blanks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50F978A-0DCE-4F96-8FD7-E7585FE3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Feed the model huge text, hide some words, and train it to predict them. Over billions of examples it absorbs grammar, facts, and reasoning patterns.</a:t>
            </a:r>
          </a:p>
        </p:txBody>
      </p:sp>
      <p:sp>
        <p:nvSpPr>
          <p:cNvPr id="6" name="b1. Massive text">
            <a:extLst xmlns:a="http://schemas.openxmlformats.org/drawingml/2006/main">
              <a:ext uri="{FF2B5EF4-FFF2-40B4-BE49-F238E27FC236}">
                <a16:creationId xmlns:a16="http://schemas.microsoft.com/office/drawing/2014/main" id="{626C46DF-667D-461B-88C7-7442A9E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1. Massive text-t">
            <a:extLst xmlns:a="http://schemas.openxmlformats.org/drawingml/2006/main">
              <a:ext uri="{FF2B5EF4-FFF2-40B4-BE49-F238E27FC236}">
                <a16:creationId xmlns:a16="http://schemas.microsoft.com/office/drawing/2014/main" id="{C2F423CA-60AF-47AE-8610-B58FF6DA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1. Massive text</a:t>
            </a:r>
          </a:p>
        </p:txBody>
      </p:sp>
      <p:sp>
        <p:nvSpPr>
          <p:cNvPr id="8" name="bt1. Massive text">
            <a:extLst xmlns:a="http://schemas.openxmlformats.org/drawingml/2006/main">
              <a:ext uri="{FF2B5EF4-FFF2-40B4-BE49-F238E27FC236}">
                <a16:creationId xmlns:a16="http://schemas.microsoft.com/office/drawing/2014/main" id="{A033AE68-9CA5-4FE3-A599-C4C13D38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86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Books, articles, code, and web text</a:t>
            </a:r>
          </a:p>
        </p:txBody>
      </p:sp>
      <p:sp>
        <p:nvSpPr>
          <p:cNvPr id="9" name="b2. Mask / shift">
            <a:extLst xmlns:a="http://schemas.openxmlformats.org/drawingml/2006/main">
              <a:ext uri="{FF2B5EF4-FFF2-40B4-BE49-F238E27FC236}">
                <a16:creationId xmlns:a16="http://schemas.microsoft.com/office/drawing/2014/main" id="{A9C7A535-9678-4FAA-BE7D-AF0DE181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2. Mask / shift-t">
            <a:extLst xmlns:a="http://schemas.openxmlformats.org/drawingml/2006/main">
              <a:ext uri="{FF2B5EF4-FFF2-40B4-BE49-F238E27FC236}">
                <a16:creationId xmlns:a16="http://schemas.microsoft.com/office/drawing/2014/main" id="{686DBD54-5DBC-4819-B1B7-16A2CA31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2. Mask / shift</a:t>
            </a:r>
          </a:p>
        </p:txBody>
      </p:sp>
      <p:sp>
        <p:nvSpPr>
          <p:cNvPr id="11" name="bt2. Mask / shift">
            <a:extLst xmlns:a="http://schemas.openxmlformats.org/drawingml/2006/main">
              <a:ext uri="{FF2B5EF4-FFF2-40B4-BE49-F238E27FC236}">
                <a16:creationId xmlns:a16="http://schemas.microsoft.com/office/drawing/2014/main" id="{6847C0B1-2825-4A3E-B028-939BD25A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673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Hide a token; ask the model to predict it</a:t>
            </a:r>
          </a:p>
        </p:txBody>
      </p:sp>
      <p:sp>
        <p:nvSpPr>
          <p:cNvPr id="12" name="b3. Measure error">
            <a:extLst xmlns:a="http://schemas.openxmlformats.org/drawingml/2006/main">
              <a:ext uri="{FF2B5EF4-FFF2-40B4-BE49-F238E27FC236}">
                <a16:creationId xmlns:a16="http://schemas.microsoft.com/office/drawing/2014/main" id="{6E723508-0604-4C8E-8AE3-33BC3FAF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3. Measure error-t">
            <a:extLst xmlns:a="http://schemas.openxmlformats.org/drawingml/2006/main">
              <a:ext uri="{FF2B5EF4-FFF2-40B4-BE49-F238E27FC236}">
                <a16:creationId xmlns:a16="http://schemas.microsoft.com/office/drawing/2014/main" id="{5CBABF1A-BD7D-42C0-A02F-27DC0E3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3. Measure error</a:t>
            </a:r>
          </a:p>
        </p:txBody>
      </p:sp>
      <p:sp>
        <p:nvSpPr>
          <p:cNvPr id="14" name="bt3. Measure error">
            <a:extLst xmlns:a="http://schemas.openxmlformats.org/drawingml/2006/main">
              <a:ext uri="{FF2B5EF4-FFF2-40B4-BE49-F238E27FC236}">
                <a16:creationId xmlns:a16="http://schemas.microsoft.com/office/drawing/2014/main" id="{379223EB-175E-4250-8729-95EAD24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8961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Compare guess to the real token</a:t>
            </a:r>
          </a:p>
        </p:txBody>
      </p:sp>
      <p:sp>
        <p:nvSpPr>
          <p:cNvPr id="15" name="b4. Adjust weights">
            <a:extLst xmlns:a="http://schemas.openxmlformats.org/drawingml/2006/main">
              <a:ext uri="{FF2B5EF4-FFF2-40B4-BE49-F238E27FC236}">
                <a16:creationId xmlns:a16="http://schemas.microsoft.com/office/drawing/2014/main" id="{D1E8FF73-41F6-4A8C-A5B6-F3EFB3FB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4. Adjust weights-t">
            <a:extLst xmlns:a="http://schemas.openxmlformats.org/drawingml/2006/main">
              <a:ext uri="{FF2B5EF4-FFF2-40B4-BE49-F238E27FC236}">
                <a16:creationId xmlns:a16="http://schemas.microsoft.com/office/drawing/2014/main" id="{67A40695-391A-4335-B51C-414424C5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4. Adjust weights</a:t>
            </a:r>
          </a:p>
        </p:txBody>
      </p:sp>
      <p:sp>
        <p:nvSpPr>
          <p:cNvPr id="17" name="bt4. Adjust weights">
            <a:extLst xmlns:a="http://schemas.openxmlformats.org/drawingml/2006/main">
              <a:ext uri="{FF2B5EF4-FFF2-40B4-BE49-F238E27FC236}">
                <a16:creationId xmlns:a16="http://schemas.microsoft.com/office/drawing/2014/main" id="{86C20F37-6426-4320-82F1-3A87782A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3248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Tune the network to reduce mistakes</a:t>
            </a:r>
          </a:p>
        </p:txBody>
      </p:sp>
      <p:sp>
        <p:nvSpPr>
          <p:cNvPr id="18" name="foot">
            <a:extLst xmlns:a="http://schemas.openxmlformats.org/drawingml/2006/main">
              <a:ext uri="{FF2B5EF4-FFF2-40B4-BE49-F238E27FC236}">
                <a16:creationId xmlns:a16="http://schemas.microsoft.com/office/drawing/2014/main" id="{0D2F9356-AF16-4582-B344-94ED8CE2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9" name="pagenum">
            <a:extLst xmlns:a="http://schemas.openxmlformats.org/drawingml/2006/main">
              <a:ext uri="{FF2B5EF4-FFF2-40B4-BE49-F238E27FC236}">
                <a16:creationId xmlns:a16="http://schemas.microsoft.com/office/drawing/2014/main" id="{A2A5EEBD-A8F3-4CAB-86D2-47567C8E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8823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ar">
            <a:extLst xmlns:a="http://schemas.openxmlformats.org/drawingml/2006/main">
              <a:ext uri="{FF2B5EF4-FFF2-40B4-BE49-F238E27FC236}">
                <a16:creationId xmlns:a16="http://schemas.microsoft.com/office/drawing/2014/main" id="{A0CEDD48-3F9C-4EBA-8884-2124099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B61B0323-7562-4D8A-A028-0BDA6A4C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40381BD-D98F-46FD-A00A-795ED096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THE ENGINE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13708C-171C-4896-998A-CA4F086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Transformers read everything at once with attention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CB37F58-2223-4615-8683-227144F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 breakthrough is self-attention: every token looks at every other token to decide what matters, capturing long-range meaning in parallel.</a:t>
            </a:r>
          </a:p>
        </p:txBody>
      </p:sp>
      <p:sp>
        <p:nvSpPr>
          <p:cNvPr id="6" name="p">
            <a:extLst xmlns:a="http://schemas.openxmlformats.org/drawingml/2006/main">
              <a:ext uri="{FF2B5EF4-FFF2-40B4-BE49-F238E27FC236}">
                <a16:creationId xmlns:a16="http://schemas.microsoft.com/office/drawing/2014/main" id="{C60F0AB9-DCED-4D7D-99E5-7B909679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-t">
            <a:extLst xmlns:a="http://schemas.openxmlformats.org/drawingml/2006/main">
              <a:ext uri="{FF2B5EF4-FFF2-40B4-BE49-F238E27FC236}">
                <a16:creationId xmlns:a16="http://schemas.microsoft.com/office/drawing/2014/main" id="{ED64B3E4-EBD3-4370-B0CE-5CD6647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Input tokens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enter the model together</a:t>
            </a:r>
          </a:p>
        </p:txBody>
      </p:sp>
      <p:sp>
        <p:nvSpPr>
          <p:cNvPr id="8" name="att">
            <a:extLst xmlns:a="http://schemas.openxmlformats.org/drawingml/2006/main">
              <a:ext uri="{FF2B5EF4-FFF2-40B4-BE49-F238E27FC236}">
                <a16:creationId xmlns:a16="http://schemas.microsoft.com/office/drawing/2014/main" id="{B14BC32C-7574-4ECB-B50D-4D5D9054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-t">
            <a:extLst xmlns:a="http://schemas.openxmlformats.org/drawingml/2006/main">
              <a:ext uri="{FF2B5EF4-FFF2-40B4-BE49-F238E27FC236}">
                <a16:creationId xmlns:a16="http://schemas.microsoft.com/office/drawing/2014/main" id="{E47E4E92-C050-4EBE-947C-C0A0992F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Self-attention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weights each token's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relation to the others</a:t>
            </a:r>
          </a:p>
        </p:txBody>
      </p:sp>
      <p:sp>
        <p:nvSpPr>
          <p:cNvPr id="10" name="out">
            <a:extLst xmlns:a="http://schemas.openxmlformats.org/drawingml/2006/main">
              <a:ext uri="{FF2B5EF4-FFF2-40B4-BE49-F238E27FC236}">
                <a16:creationId xmlns:a16="http://schemas.microsoft.com/office/drawing/2014/main" id="{A7AF44AB-7322-4CAE-A2A3-5059AF5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819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-t">
            <a:extLst xmlns:a="http://schemas.openxmlformats.org/drawingml/2006/main">
              <a:ext uri="{FF2B5EF4-FFF2-40B4-BE49-F238E27FC236}">
                <a16:creationId xmlns:a16="http://schemas.microsoft.com/office/drawing/2014/main" id="{AE92F5BB-0BE3-4D1A-A46F-24EDCF5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819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Rich context-aware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representations</a:t>
            </a:r>
          </a:p>
        </p:txBody>
      </p:sp>
      <p:sp>
        <p:nvSpPr>
          <p:cNvPr id="12" name="ar1">
            <a:extLst xmlns:a="http://schemas.openxmlformats.org/drawingml/2006/main">
              <a:ext uri="{FF2B5EF4-FFF2-40B4-BE49-F238E27FC236}">
                <a16:creationId xmlns:a16="http://schemas.microsoft.com/office/drawing/2014/main" id="{744C9D0A-48F6-4ABA-A96F-17808A97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2">
            <a:extLst xmlns:a="http://schemas.openxmlformats.org/drawingml/2006/main">
              <a:ext uri="{FF2B5EF4-FFF2-40B4-BE49-F238E27FC236}">
                <a16:creationId xmlns:a16="http://schemas.microsoft.com/office/drawing/2014/main" id="{2C818848-FE24-4DA3-A896-AED12060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">
            <a:extLst xmlns:a="http://schemas.openxmlformats.org/drawingml/2006/main">
              <a:ext uri="{FF2B5EF4-FFF2-40B4-BE49-F238E27FC236}">
                <a16:creationId xmlns:a16="http://schemas.microsoft.com/office/drawing/2014/main" id="{298F37C7-2BFA-4829-BF02-D6EB1FA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Stacked attention layers build deeper understanding, which is why modern LLMs are built from many transformer blocks.</a:t>
            </a:r>
          </a:p>
        </p:txBody>
      </p:sp>
      <p:sp>
        <p:nvSpPr>
          <p:cNvPr id="15" name="foot">
            <a:extLst xmlns:a="http://schemas.openxmlformats.org/drawingml/2006/main">
              <a:ext uri="{FF2B5EF4-FFF2-40B4-BE49-F238E27FC236}">
                <a16:creationId xmlns:a16="http://schemas.microsoft.com/office/drawing/2014/main" id="{319E0754-8421-499A-ABAE-8076E896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6" name="pagenum">
            <a:extLst xmlns:a="http://schemas.openxmlformats.org/drawingml/2006/main">
              <a:ext uri="{FF2B5EF4-FFF2-40B4-BE49-F238E27FC236}">
                <a16:creationId xmlns:a16="http://schemas.microsoft.com/office/drawing/2014/main" id="{7AAB813C-4AA8-4C33-9D32-DAA8563B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2239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r">
            <a:extLst xmlns:a="http://schemas.openxmlformats.org/drawingml/2006/main">
              <a:ext uri="{FF2B5EF4-FFF2-40B4-BE49-F238E27FC236}">
                <a16:creationId xmlns:a16="http://schemas.microsoft.com/office/drawing/2014/main" id="{6C1F246D-9588-49AB-8485-A6A5EB0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5F83746B-1345-4F53-966D-CA3478B4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0552CDE-C2E8-47FB-BC8E-294CFCF6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WHY BIG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8B5AF5-3385-4DA1-9A24-780DA874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Scale is a quiet superpower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1BE739E-E6D1-42D3-AC63-5BB22788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More parameters and more data unlock surprising abilities. Capabilities often improve smoothly as models grow — a property called emergent behavior.</a:t>
            </a:r>
          </a:p>
        </p:txBody>
      </p:sp>
      <p:sp>
        <p:nvSpPr>
          <p:cNvPr id="6" name="s1">
            <a:extLst xmlns:a="http://schemas.openxmlformats.org/drawingml/2006/main">
              <a:ext uri="{FF2B5EF4-FFF2-40B4-BE49-F238E27FC236}">
                <a16:creationId xmlns:a16="http://schemas.microsoft.com/office/drawing/2014/main" id="{ADD9252B-391C-4419-AF2C-A40F7DC2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-t">
            <a:extLst xmlns:a="http://schemas.openxmlformats.org/drawingml/2006/main">
              <a:ext uri="{FF2B5EF4-FFF2-40B4-BE49-F238E27FC236}">
                <a16:creationId xmlns:a16="http://schemas.microsoft.com/office/drawing/2014/main" id="{C7761EE2-FA60-4C18-BE60-E47E39B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Parameters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Billions of knobs the model tunes while learning</a:t>
            </a:r>
          </a:p>
        </p:txBody>
      </p:sp>
      <p:sp>
        <p:nvSpPr>
          <p:cNvPr id="8" name="s2">
            <a:extLst xmlns:a="http://schemas.openxmlformats.org/drawingml/2006/main">
              <a:ext uri="{FF2B5EF4-FFF2-40B4-BE49-F238E27FC236}">
                <a16:creationId xmlns:a16="http://schemas.microsoft.com/office/drawing/2014/main" id="{A585253C-1EBD-4FFA-9AA5-79FF9E24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t">
            <a:extLst xmlns:a="http://schemas.openxmlformats.org/drawingml/2006/main">
              <a:ext uri="{FF2B5EF4-FFF2-40B4-BE49-F238E27FC236}">
                <a16:creationId xmlns:a16="http://schemas.microsoft.com/office/drawing/2014/main" id="{85BA38BB-3BA5-45D2-B2CF-C782105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Training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Trillions of tokens of text and code</a:t>
            </a:r>
          </a:p>
        </p:txBody>
      </p:sp>
      <p:sp>
        <p:nvSpPr>
          <p:cNvPr id="10" name="s3">
            <a:extLst xmlns:a="http://schemas.openxmlformats.org/drawingml/2006/main">
              <a:ext uri="{FF2B5EF4-FFF2-40B4-BE49-F238E27FC236}">
                <a16:creationId xmlns:a16="http://schemas.microsoft.com/office/drawing/2014/main" id="{F76591D1-6EA1-4BEC-A201-CAE3824E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t">
            <a:extLst xmlns:a="http://schemas.openxmlformats.org/drawingml/2006/main">
              <a:ext uri="{FF2B5EF4-FFF2-40B4-BE49-F238E27FC236}">
                <a16:creationId xmlns:a16="http://schemas.microsoft.com/office/drawing/2014/main" id="{A82F861B-F39F-4C76-9244-C66B234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Compute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Massive GPU time to train the weights</a:t>
            </a:r>
          </a:p>
        </p:txBody>
      </p:sp>
      <p:sp>
        <p:nvSpPr>
          <p:cNvPr id="12" name="foot">
            <a:extLst xmlns:a="http://schemas.openxmlformats.org/drawingml/2006/main">
              <a:ext uri="{FF2B5EF4-FFF2-40B4-BE49-F238E27FC236}">
                <a16:creationId xmlns:a16="http://schemas.microsoft.com/office/drawing/2014/main" id="{4B1A66F5-BFA5-42C3-B153-B762A59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3" name="pagenum">
            <a:extLst xmlns:a="http://schemas.openxmlformats.org/drawingml/2006/main">
              <a:ext uri="{FF2B5EF4-FFF2-40B4-BE49-F238E27FC236}">
                <a16:creationId xmlns:a16="http://schemas.microsoft.com/office/drawing/2014/main" id="{50A8FE7D-2963-4770-A183-1EA43CAF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4627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r">
            <a:extLst xmlns:a="http://schemas.openxmlformats.org/drawingml/2006/main">
              <a:ext uri="{FF2B5EF4-FFF2-40B4-BE49-F238E27FC236}">
                <a16:creationId xmlns:a16="http://schemas.microsoft.com/office/drawing/2014/main" id="{8AA169EE-EB80-4095-9B3E-BCEEE0B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FD4A16E7-B3A1-406D-97FD-C5E0828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51F163A-194F-41F0-BE0B-38FB80A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POLISHING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97C68D-0314-4E6D-8FC1-C17CEBB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Fine-tuning teaches helpful, safer behavior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F470202-D40D-4042-9719-B690809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After pre-training, models are aligned using human feedback (RLHF): people rank answers, and the model learns to prefer the most useful, harmless responses.</a:t>
            </a:r>
          </a:p>
        </p:txBody>
      </p:sp>
      <p:sp>
        <p:nvSpPr>
          <p:cNvPr id="6" name="f0">
            <a:extLst xmlns:a="http://schemas.openxmlformats.org/drawingml/2006/main">
              <a:ext uri="{FF2B5EF4-FFF2-40B4-BE49-F238E27FC236}">
                <a16:creationId xmlns:a16="http://schemas.microsoft.com/office/drawing/2014/main" id="{409B2770-6D27-4CAF-B9E7-10D6699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0-t">
            <a:extLst xmlns:a="http://schemas.openxmlformats.org/drawingml/2006/main">
              <a:ext uri="{FF2B5EF4-FFF2-40B4-BE49-F238E27FC236}">
                <a16:creationId xmlns:a16="http://schemas.microsoft.com/office/drawing/2014/main" id="{313FBA43-4356-4C1E-BA79-15F6152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Base model</a:t>
            </a:r>
          </a:p>
        </p:txBody>
      </p:sp>
      <p:sp>
        <p:nvSpPr>
          <p:cNvPr id="8" name="ft0">
            <a:extLst xmlns:a="http://schemas.openxmlformats.org/drawingml/2006/main">
              <a:ext uri="{FF2B5EF4-FFF2-40B4-BE49-F238E27FC236}">
                <a16:creationId xmlns:a16="http://schemas.microsoft.com/office/drawing/2014/main" id="{D0A48CEC-AA6E-4DE2-BC03-D62AB5D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Predicts text, but not yet steerable</a:t>
            </a:r>
          </a:p>
        </p:txBody>
      </p:sp>
      <p:sp>
        <p:nvSpPr>
          <p:cNvPr id="9" name="fa0">
            <a:extLst xmlns:a="http://schemas.openxmlformats.org/drawingml/2006/main">
              <a:ext uri="{FF2B5EF4-FFF2-40B4-BE49-F238E27FC236}">
                <a16:creationId xmlns:a16="http://schemas.microsoft.com/office/drawing/2014/main" id="{9C97CA30-3A42-41BE-B63C-B80A014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00575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1">
            <a:extLst xmlns:a="http://schemas.openxmlformats.org/drawingml/2006/main">
              <a:ext uri="{FF2B5EF4-FFF2-40B4-BE49-F238E27FC236}">
                <a16:creationId xmlns:a16="http://schemas.microsoft.com/office/drawing/2014/main" id="{DB048E6C-B22F-44C5-A7F4-A94DA9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1-t">
            <a:extLst xmlns:a="http://schemas.openxmlformats.org/drawingml/2006/main">
              <a:ext uri="{FF2B5EF4-FFF2-40B4-BE49-F238E27FC236}">
                <a16:creationId xmlns:a16="http://schemas.microsoft.com/office/drawing/2014/main" id="{1943EFCB-0FA0-4956-8CFE-65C72B0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Human / AI feedback</a:t>
            </a:r>
          </a:p>
        </p:txBody>
      </p:sp>
      <p:sp>
        <p:nvSpPr>
          <p:cNvPr id="12" name="ft1">
            <a:extLst xmlns:a="http://schemas.openxmlformats.org/drawingml/2006/main">
              <a:ext uri="{FF2B5EF4-FFF2-40B4-BE49-F238E27FC236}">
                <a16:creationId xmlns:a16="http://schemas.microsoft.com/office/drawing/2014/main" id="{EA60B1D0-C79E-4E11-967F-0759053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Rank which answers are best</a:t>
            </a:r>
          </a:p>
        </p:txBody>
      </p:sp>
      <p:sp>
        <p:nvSpPr>
          <p:cNvPr id="13" name="fa1">
            <a:extLst xmlns:a="http://schemas.openxmlformats.org/drawingml/2006/main">
              <a:ext uri="{FF2B5EF4-FFF2-40B4-BE49-F238E27FC236}">
                <a16:creationId xmlns:a16="http://schemas.microsoft.com/office/drawing/2014/main" id="{C2B4E8F7-8F55-4FCD-851E-6B289B23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2">
            <a:extLst xmlns:a="http://schemas.openxmlformats.org/drawingml/2006/main">
              <a:ext uri="{FF2B5EF4-FFF2-40B4-BE49-F238E27FC236}">
                <a16:creationId xmlns:a16="http://schemas.microsoft.com/office/drawing/2014/main" id="{EFA4AD2C-052F-437B-8422-CFF54088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2-t">
            <a:extLst xmlns:a="http://schemas.openxmlformats.org/drawingml/2006/main">
              <a:ext uri="{FF2B5EF4-FFF2-40B4-BE49-F238E27FC236}">
                <a16:creationId xmlns:a16="http://schemas.microsoft.com/office/drawing/2014/main" id="{01007998-FA8E-4F40-ACAA-F8662F3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Reward model</a:t>
            </a:r>
          </a:p>
        </p:txBody>
      </p:sp>
      <p:sp>
        <p:nvSpPr>
          <p:cNvPr id="16" name="ft2">
            <a:extLst xmlns:a="http://schemas.openxmlformats.org/drawingml/2006/main">
              <a:ext uri="{FF2B5EF4-FFF2-40B4-BE49-F238E27FC236}">
                <a16:creationId xmlns:a16="http://schemas.microsoft.com/office/drawing/2014/main" id="{EBEFD3A0-FA93-4E2D-BC92-E06EFD94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24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Learns your preferences</a:t>
            </a:r>
          </a:p>
        </p:txBody>
      </p:sp>
      <p:sp>
        <p:nvSpPr>
          <p:cNvPr id="17" name="fa2">
            <a:extLst xmlns:a="http://schemas.openxmlformats.org/drawingml/2006/main">
              <a:ext uri="{FF2B5EF4-FFF2-40B4-BE49-F238E27FC236}">
                <a16:creationId xmlns:a16="http://schemas.microsoft.com/office/drawing/2014/main" id="{0B452463-DD73-4858-9B48-CD72738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00575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3">
            <a:extLst xmlns:a="http://schemas.openxmlformats.org/drawingml/2006/main">
              <a:ext uri="{FF2B5EF4-FFF2-40B4-BE49-F238E27FC236}">
                <a16:creationId xmlns:a16="http://schemas.microsoft.com/office/drawing/2014/main" id="{4560065A-8EAF-4C9B-876D-7BBE597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3-t">
            <a:extLst xmlns:a="http://schemas.openxmlformats.org/drawingml/2006/main">
              <a:ext uri="{FF2B5EF4-FFF2-40B4-BE49-F238E27FC236}">
                <a16:creationId xmlns:a16="http://schemas.microsoft.com/office/drawing/2014/main" id="{974EDCA3-52FE-42E2-9082-60448B9E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Aligned assistant</a:t>
            </a:r>
          </a:p>
        </p:txBody>
      </p:sp>
      <p:sp>
        <p:nvSpPr>
          <p:cNvPr id="20" name="ft3">
            <a:extLst xmlns:a="http://schemas.openxmlformats.org/drawingml/2006/main">
              <a:ext uri="{FF2B5EF4-FFF2-40B4-BE49-F238E27FC236}">
                <a16:creationId xmlns:a16="http://schemas.microsoft.com/office/drawing/2014/main" id="{A76EDB50-CA4A-440D-ABEC-49C8014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24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Gives helpful, safer replies</a:t>
            </a:r>
          </a:p>
        </p:txBody>
      </p:sp>
      <p:sp>
        <p:nvSpPr>
          <p:cNvPr id="21" name="foot">
            <a:extLst xmlns:a="http://schemas.openxmlformats.org/drawingml/2006/main">
              <a:ext uri="{FF2B5EF4-FFF2-40B4-BE49-F238E27FC236}">
                <a16:creationId xmlns:a16="http://schemas.microsoft.com/office/drawing/2014/main" id="{D97D6FFA-4A1E-491C-AA30-BACF95DE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22" name="pagenum">
            <a:extLst xmlns:a="http://schemas.openxmlformats.org/drawingml/2006/main">
              <a:ext uri="{FF2B5EF4-FFF2-40B4-BE49-F238E27FC236}">
                <a16:creationId xmlns:a16="http://schemas.microsoft.com/office/drawing/2014/main" id="{A8848BE4-FB7B-4461-A550-A45152D2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2319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r">
            <a:extLst xmlns:a="http://schemas.openxmlformats.org/drawingml/2006/main">
              <a:ext uri="{FF2B5EF4-FFF2-40B4-BE49-F238E27FC236}">
                <a16:creationId xmlns:a16="http://schemas.microsoft.com/office/drawing/2014/main" id="{4748FE79-E16C-45FE-B294-9FE8F6FA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6F59AA91-353D-45A2-8E43-29018834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B4CCAF5-E24D-48E9-90E3-8FAD4120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GENERATING 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BD6ACB-B32D-4C47-93EC-0CADC79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Inference produces one token at a time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5F8DEA0-5A14-4F13-A187-0084EAC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At reply time the model guesses the next token, appends it, and repeats — sampling among likely options so answers vary while staying on topic.</a:t>
            </a:r>
          </a:p>
        </p:txBody>
      </p:sp>
      <p:sp>
        <p:nvSpPr>
          <p:cNvPr id="6" name="seqlbl">
            <a:extLst xmlns:a="http://schemas.openxmlformats.org/drawingml/2006/main">
              <a:ext uri="{FF2B5EF4-FFF2-40B4-BE49-F238E27FC236}">
                <a16:creationId xmlns:a16="http://schemas.microsoft.com/office/drawing/2014/main" id="{C191BEAC-B781-4A10-B2FB-18AF3829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Prompt → token → append → repeat</a:t>
            </a:r>
          </a:p>
        </p:txBody>
      </p:sp>
      <p:sp>
        <p:nvSpPr>
          <p:cNvPr id="7" name="sq0">
            <a:extLst xmlns:a="http://schemas.openxmlformats.org/drawingml/2006/main">
              <a:ext uri="{FF2B5EF4-FFF2-40B4-BE49-F238E27FC236}">
                <a16:creationId xmlns:a16="http://schemas.microsoft.com/office/drawing/2014/main" id="{27F4254E-0A3C-43FB-8271-4B56B37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q0-t">
            <a:extLst xmlns:a="http://schemas.openxmlformats.org/drawingml/2006/main">
              <a:ext uri="{FF2B5EF4-FFF2-40B4-BE49-F238E27FC236}">
                <a16:creationId xmlns:a16="http://schemas.microsoft.com/office/drawing/2014/main" id="{8035F498-ED8B-4CF6-BA5E-D55BB88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The</a:t>
            </a:r>
          </a:p>
        </p:txBody>
      </p:sp>
      <p:sp>
        <p:nvSpPr>
          <p:cNvPr id="9" name="sqa0">
            <a:extLst xmlns:a="http://schemas.openxmlformats.org/drawingml/2006/main">
              <a:ext uri="{FF2B5EF4-FFF2-40B4-BE49-F238E27FC236}">
                <a16:creationId xmlns:a16="http://schemas.microsoft.com/office/drawing/2014/main" id="{521C4335-7B12-42D3-A59F-FEF9D8F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624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1">
            <a:extLst xmlns:a="http://schemas.openxmlformats.org/drawingml/2006/main">
              <a:ext uri="{FF2B5EF4-FFF2-40B4-BE49-F238E27FC236}">
                <a16:creationId xmlns:a16="http://schemas.microsoft.com/office/drawing/2014/main" id="{5189EE38-8456-495E-B07E-0D35B82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q1-t">
            <a:extLst xmlns:a="http://schemas.openxmlformats.org/drawingml/2006/main">
              <a:ext uri="{FF2B5EF4-FFF2-40B4-BE49-F238E27FC236}">
                <a16:creationId xmlns:a16="http://schemas.microsoft.com/office/drawing/2014/main" id="{E48AF2EF-787A-4D06-9F29-98243AF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cat</a:t>
            </a:r>
          </a:p>
        </p:txBody>
      </p:sp>
      <p:sp>
        <p:nvSpPr>
          <p:cNvPr id="12" name="sqa1">
            <a:extLst xmlns:a="http://schemas.openxmlformats.org/drawingml/2006/main">
              <a:ext uri="{FF2B5EF4-FFF2-40B4-BE49-F238E27FC236}">
                <a16:creationId xmlns:a16="http://schemas.microsoft.com/office/drawing/2014/main" id="{0604404F-3823-4865-AABF-C8E11BC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624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2">
            <a:extLst xmlns:a="http://schemas.openxmlformats.org/drawingml/2006/main">
              <a:ext uri="{FF2B5EF4-FFF2-40B4-BE49-F238E27FC236}">
                <a16:creationId xmlns:a16="http://schemas.microsoft.com/office/drawing/2014/main" id="{ABC3ADFD-D977-4D97-ADC7-581E39A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9575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2-t">
            <a:extLst xmlns:a="http://schemas.openxmlformats.org/drawingml/2006/main">
              <a:ext uri="{FF2B5EF4-FFF2-40B4-BE49-F238E27FC236}">
                <a16:creationId xmlns:a16="http://schemas.microsoft.com/office/drawing/2014/main" id="{98D89C86-8EBE-4C9E-A336-6735BEE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95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sat</a:t>
            </a:r>
          </a:p>
        </p:txBody>
      </p:sp>
      <p:sp>
        <p:nvSpPr>
          <p:cNvPr id="15" name="sqa2">
            <a:extLst xmlns:a="http://schemas.openxmlformats.org/drawingml/2006/main">
              <a:ext uri="{FF2B5EF4-FFF2-40B4-BE49-F238E27FC236}">
                <a16:creationId xmlns:a16="http://schemas.microsoft.com/office/drawing/2014/main" id="{6A991B9A-756E-4018-8B8B-12F74FBF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q3">
            <a:extLst xmlns:a="http://schemas.openxmlformats.org/drawingml/2006/main">
              <a:ext uri="{FF2B5EF4-FFF2-40B4-BE49-F238E27FC236}">
                <a16:creationId xmlns:a16="http://schemas.microsoft.com/office/drawing/2014/main" id="{74525F14-8A42-40F7-BC7F-18C888A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q3-t">
            <a:extLst xmlns:a="http://schemas.openxmlformats.org/drawingml/2006/main">
              <a:ext uri="{FF2B5EF4-FFF2-40B4-BE49-F238E27FC236}">
                <a16:creationId xmlns:a16="http://schemas.microsoft.com/office/drawing/2014/main" id="{FA4FE1ED-795A-474E-AAC5-48CB79B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on</a:t>
            </a:r>
          </a:p>
        </p:txBody>
      </p:sp>
      <p:sp>
        <p:nvSpPr>
          <p:cNvPr id="18" name="next">
            <a:extLst xmlns:a="http://schemas.openxmlformats.org/drawingml/2006/main">
              <a:ext uri="{FF2B5EF4-FFF2-40B4-BE49-F238E27FC236}">
                <a16:creationId xmlns:a16="http://schemas.microsoft.com/office/drawing/2014/main" id="{4EC5D5EC-5F48-4939-B0D0-EEAABFA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Next predicted token: " the "  →  then " mat "  →  ... until a stop signal ends the reply.</a:t>
            </a:r>
          </a:p>
        </p:txBody>
      </p:sp>
      <p:sp>
        <p:nvSpPr>
          <p:cNvPr id="19" name="foot">
            <a:extLst xmlns:a="http://schemas.openxmlformats.org/drawingml/2006/main">
              <a:ext uri="{FF2B5EF4-FFF2-40B4-BE49-F238E27FC236}">
                <a16:creationId xmlns:a16="http://schemas.microsoft.com/office/drawing/2014/main" id="{F5EA6184-26C7-4B8E-BDD6-6E65CE7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20" name="pagenum">
            <a:extLst xmlns:a="http://schemas.openxmlformats.org/drawingml/2006/main">
              <a:ext uri="{FF2B5EF4-FFF2-40B4-BE49-F238E27FC236}">
                <a16:creationId xmlns:a16="http://schemas.microsoft.com/office/drawing/2014/main" id="{5EBC9C01-F880-45B8-B907-74A3478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29455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r">
            <a:extLst xmlns:a="http://schemas.openxmlformats.org/drawingml/2006/main">
              <a:ext uri="{FF2B5EF4-FFF2-40B4-BE49-F238E27FC236}">
                <a16:creationId xmlns:a16="http://schemas.microsoft.com/office/drawing/2014/main" id="{BF51C3AA-0514-4D16-A3BF-CD63CB1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0ED178FE-A9ED-4CFD-96E6-1E7629D5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4A2DFC-C038-4B2E-A44A-466F07AB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MEMORY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5AC9D0-DB91-425F-A234-40BA363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The context window is its working memory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B871B61-7080-4545-B442-2F18AC8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A model only 'sees' the tokens in its context window (prompt + reply). Anything beyond it is forgotten, which is why long chats summarize or lose earlier details.</a:t>
            </a:r>
          </a:p>
        </p:txBody>
      </p:sp>
      <p:sp>
        <p:nvSpPr>
          <p:cNvPr id="6" name="win">
            <a:extLst xmlns:a="http://schemas.openxmlformats.org/drawingml/2006/main">
              <a:ext uri="{FF2B5EF4-FFF2-40B4-BE49-F238E27FC236}">
                <a16:creationId xmlns:a16="http://schemas.microsoft.com/office/drawing/2014/main" id="{456D208A-D717-4685-8964-F43A02B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363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int">
            <a:extLst xmlns:a="http://schemas.openxmlformats.org/drawingml/2006/main">
              <a:ext uri="{FF2B5EF4-FFF2-40B4-BE49-F238E27FC236}">
                <a16:creationId xmlns:a16="http://schemas.microsoft.com/office/drawing/2014/main" id="{9DCDBBF1-DDC9-4A47-9EC7-AF138D8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Context window  =  system + prompt + conversation + reply   (e.g. 8K–200K+ tokens)</a:t>
            </a:r>
          </a:p>
        </p:txBody>
      </p:sp>
      <p:sp>
        <p:nvSpPr>
          <p:cNvPr id="8" name="cap">
            <a:extLst xmlns:a="http://schemas.openxmlformats.org/drawingml/2006/main">
              <a:ext uri="{FF2B5EF4-FFF2-40B4-BE49-F238E27FC236}">
                <a16:creationId xmlns:a16="http://schemas.microsoft.com/office/drawing/2014/main" id="{4FC0F1F7-0CC2-4DEA-996C-EF67DEAC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More tokens cost more compute, so longer context is powerful but not free. Retrieval and summarization help stretch what fits.</a:t>
            </a:r>
          </a:p>
        </p:txBody>
      </p:sp>
      <p:sp>
        <p:nvSpPr>
          <p:cNvPr id="9" name="foot">
            <a:extLst xmlns:a="http://schemas.openxmlformats.org/drawingml/2006/main">
              <a:ext uri="{FF2B5EF4-FFF2-40B4-BE49-F238E27FC236}">
                <a16:creationId xmlns:a16="http://schemas.microsoft.com/office/drawing/2014/main" id="{39C3A9F4-EB02-4C96-9DCE-7471CED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0" name="pagenum">
            <a:extLst xmlns:a="http://schemas.openxmlformats.org/drawingml/2006/main">
              <a:ext uri="{FF2B5EF4-FFF2-40B4-BE49-F238E27FC236}">
                <a16:creationId xmlns:a16="http://schemas.microsoft.com/office/drawing/2014/main" id="{133C4907-06B6-4307-990C-20B4F269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23540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r">
            <a:extLst xmlns:a="http://schemas.openxmlformats.org/drawingml/2006/main">
              <a:ext uri="{FF2B5EF4-FFF2-40B4-BE49-F238E27FC236}">
                <a16:creationId xmlns:a16="http://schemas.microsoft.com/office/drawing/2014/main" id="{759349B6-EFE9-4DCD-B7AC-547DA5E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14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accentbar">
            <a:extLst xmlns:a="http://schemas.openxmlformats.org/drawingml/2006/main">
              <a:ext uri="{FF2B5EF4-FFF2-40B4-BE49-F238E27FC236}">
                <a16:creationId xmlns:a16="http://schemas.microsoft.com/office/drawing/2014/main" id="{E492F4D5-A2C6-4669-A58D-1A0EC6E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3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730B43-B25F-4CCD-A1F6-59B021B2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39F6"/>
                </a:solidFill>
              </a:defRPr>
            </a:pPr>
            <a:r>
              <a:rPr sz="1200" b="1">
                <a:solidFill>
                  <a:srgbClr val="4F39F6"/>
                </a:solidFill>
              </a:rPr>
              <a:t>BALANCED 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F89BA9-1710-453C-BEC7-1166E26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Impressive, but not a source of truth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41E4463-C73F-4BBF-B634-ADBFC6F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LLMs are fluent pattern engines. They reason well on familiar patterns yet can confidently state things that are wrong.</a:t>
            </a:r>
          </a:p>
        </p:txBody>
      </p:sp>
      <p:sp>
        <p:nvSpPr>
          <p:cNvPr id="6" name="good">
            <a:extLst xmlns:a="http://schemas.openxmlformats.org/drawingml/2006/main">
              <a:ext uri="{FF2B5EF4-FFF2-40B4-BE49-F238E27FC236}">
                <a16:creationId xmlns:a16="http://schemas.microsoft.com/office/drawing/2014/main" id="{E1D6AD30-8CF6-4D36-98C1-ECE96ACE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953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od-t">
            <a:extLst xmlns:a="http://schemas.openxmlformats.org/drawingml/2006/main">
              <a:ext uri="{FF2B5EF4-FFF2-40B4-BE49-F238E27FC236}">
                <a16:creationId xmlns:a16="http://schemas.microsoft.com/office/drawing/2014/main" id="{2167E60D-65EA-402F-B847-C36B864E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Strengths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Summarize, draft, and explain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Translate and code across languages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Adapt to many tasks from one prompt</a:t>
            </a:r>
          </a:p>
        </p:txBody>
      </p:sp>
      <p:sp>
        <p:nvSpPr>
          <p:cNvPr id="8" name="lim">
            <a:extLst xmlns:a="http://schemas.openxmlformats.org/drawingml/2006/main">
              <a:ext uri="{FF2B5EF4-FFF2-40B4-BE49-F238E27FC236}">
                <a16:creationId xmlns:a16="http://schemas.microsoft.com/office/drawing/2014/main" id="{6408C60F-5942-4717-952D-82466B8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953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im-t">
            <a:extLst xmlns:a="http://schemas.openxmlformats.org/drawingml/2006/main">
              <a:ext uri="{FF2B5EF4-FFF2-40B4-BE49-F238E27FC236}">
                <a16:creationId xmlns:a16="http://schemas.microsoft.com/office/drawing/2014/main" id="{9754D4BC-DDCA-4592-924C-336B337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No real-world experience or live facts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Can hallucinate or guess</a:t>
            </a:r>
          </a:p>
          <a:p xmlns:a="http://schemas.openxmlformats.org/drawingml/2006/main">
            <a:pPr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• Biased by training data; no true understanding</a:t>
            </a:r>
          </a:p>
        </p:txBody>
      </p:sp>
      <p:sp>
        <p:nvSpPr>
          <p:cNvPr id="10" name="foot">
            <a:extLst xmlns:a="http://schemas.openxmlformats.org/drawingml/2006/main">
              <a:ext uri="{FF2B5EF4-FFF2-40B4-BE49-F238E27FC236}">
                <a16:creationId xmlns:a16="http://schemas.microsoft.com/office/drawing/2014/main" id="{18419202-120D-4F10-88C9-4922F04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How Large Language Models Work</a:t>
            </a:r>
          </a:p>
        </p:txBody>
      </p:sp>
      <p:sp>
        <p:nvSpPr>
          <p:cNvPr id="11" name="pagenum">
            <a:extLst xmlns:a="http://schemas.openxmlformats.org/drawingml/2006/main">
              <a:ext uri="{FF2B5EF4-FFF2-40B4-BE49-F238E27FC236}">
                <a16:creationId xmlns:a16="http://schemas.microsoft.com/office/drawing/2014/main" id="{5B43E936-8BA6-4CC0-B24D-EE4BFFA9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6615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F3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k">
            <a:extLst xmlns:a="http://schemas.openxmlformats.org/drawingml/2006/main">
              <a:ext uri="{FF2B5EF4-FFF2-40B4-BE49-F238E27FC236}">
                <a16:creationId xmlns:a16="http://schemas.microsoft.com/office/drawing/2014/main" id="{836350DB-DBB2-4DBB-96C8-18CAC8C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E7FF"/>
                </a:solidFill>
              </a:defRPr>
            </a:pPr>
            <a:r>
              <a:rPr sz="1350" b="1">
                <a:solidFill>
                  <a:srgbClr val="E0E7FF"/>
                </a:solidFill>
              </a:rPr>
              <a:t>TAKEAWAYS</a:t>
            </a:r>
          </a:p>
        </p:txBody>
      </p:sp>
      <p:sp>
        <p:nvSpPr>
          <p:cNvPr id="2" name="t">
            <a:extLst xmlns:a="http://schemas.openxmlformats.org/drawingml/2006/main">
              <a:ext uri="{FF2B5EF4-FFF2-40B4-BE49-F238E27FC236}">
                <a16:creationId xmlns:a16="http://schemas.microsoft.com/office/drawing/2014/main" id="{3E996019-0561-4316-B41C-31058F1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What to remember</a:t>
            </a:r>
          </a:p>
        </p:txBody>
      </p:sp>
      <p:sp>
        <p:nvSpPr>
          <p:cNvPr id="3" name="pts">
            <a:extLst xmlns:a="http://schemas.openxmlformats.org/drawingml/2006/main">
              <a:ext uri="{FF2B5EF4-FFF2-40B4-BE49-F238E27FC236}">
                <a16:creationId xmlns:a16="http://schemas.microsoft.com/office/drawing/2014/main" id="{CF12BD3C-FB54-41D0-A164-FCE83583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03632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0E7FF"/>
                </a:solidFill>
              </a:defRPr>
            </a:pPr>
            <a:r>
              <a:rPr sz="1800" b="0">
                <a:solidFill>
                  <a:srgbClr val="E0E7FF"/>
                </a:solidFill>
              </a:rPr>
              <a:t>• An LLM predicts the next token from what came before.</a:t>
            </a:r>
          </a:p>
          <a:p xmlns:a="http://schemas.openxmlformats.org/drawingml/2006/main">
            <a:pPr>
              <a:defRPr sz="1800" b="0">
                <a:solidFill>
                  <a:srgbClr val="E0E7FF"/>
                </a:solidFill>
              </a:defRPr>
            </a:pPr>
            <a:r>
              <a:rPr sz="1800" b="0">
                <a:solidFill>
                  <a:srgbClr val="E0E7FF"/>
                </a:solidFill>
              </a:rPr>
              <a:t>• It works in tokens, learned through large-scale pre-training.</a:t>
            </a:r>
          </a:p>
          <a:p xmlns:a="http://schemas.openxmlformats.org/drawingml/2006/main">
            <a:pPr>
              <a:defRPr sz="1800" b="0">
                <a:solidFill>
                  <a:srgbClr val="E0E7FF"/>
                </a:solidFill>
              </a:defRPr>
            </a:pPr>
            <a:r>
              <a:rPr sz="1800" b="0">
                <a:solidFill>
                  <a:srgbClr val="E0E7FF"/>
                </a:solidFill>
              </a:rPr>
              <a:t>• Transformers + attention let it understand context at scale.</a:t>
            </a:r>
          </a:p>
          <a:p xmlns:a="http://schemas.openxmlformats.org/drawingml/2006/main">
            <a:pPr>
              <a:defRPr sz="1800" b="0">
                <a:solidFill>
                  <a:srgbClr val="E0E7FF"/>
                </a:solidFill>
              </a:defRPr>
            </a:pPr>
            <a:r>
              <a:rPr sz="1800" b="0">
                <a:solidFill>
                  <a:srgbClr val="E0E7FF"/>
                </a:solidFill>
              </a:rPr>
              <a:t>• Fine-tuning aligns it to be helpful and safer.</a:t>
            </a:r>
          </a:p>
          <a:p xmlns:a="http://schemas.openxmlformats.org/drawingml/2006/main">
            <a:pPr>
              <a:defRPr sz="1800" b="0">
                <a:solidFill>
                  <a:srgbClr val="E0E7FF"/>
                </a:solidFill>
              </a:defRPr>
            </a:pPr>
            <a:r>
              <a:rPr sz="1800" b="0">
                <a:solidFill>
                  <a:srgbClr val="E0E7FF"/>
                </a:solidFill>
              </a:rPr>
              <a:t>• It's a powerful language engine — verify its facts.</a:t>
            </a:r>
          </a:p>
        </p:txBody>
      </p:sp>
    </p:spTree>
    <p:extLst>
      <p:ext uri="{BB962C8B-B14F-4D97-AF65-F5344CB8AC3E}">
        <p14:creationId xmlns:p14="http://schemas.microsoft.com/office/powerpoint/2010/main" val="1937873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2026-08-22T19:19:47.7760000Z</dcterms:created>
  <dcterms:modified xsi:type="dcterms:W3CDTF">2026-08-22T19:19:47.7760000Z</dcterms:modified>
</coreProperties>
</file>